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79" r:id="rId1"/>
  </p:sldMasterIdLst>
  <p:notesMasterIdLst>
    <p:notesMasterId r:id="rId7"/>
  </p:notesMasterIdLst>
  <p:handoutMasterIdLst>
    <p:handoutMasterId r:id="rId8"/>
  </p:handoutMasterIdLst>
  <p:sldIdLst>
    <p:sldId id="260" r:id="rId2"/>
    <p:sldId id="261" r:id="rId3"/>
    <p:sldId id="265" r:id="rId4"/>
    <p:sldId id="264" r:id="rId5"/>
    <p:sldId id="263" r:id="rId6"/>
  </p:sldIdLst>
  <p:sldSz cx="24384000" cy="6858000"/>
  <p:notesSz cx="6858000" cy="9144000"/>
  <p:embeddedFontLst>
    <p:embeddedFont>
      <p:font typeface="Aptos Light" panose="020B0004020202020204" pitchFamily="34" charset="0"/>
      <p:regular r:id="rId9"/>
    </p:embeddedFont>
    <p:embeddedFont>
      <p:font typeface="Aptos SemiBold" panose="020B0004020202020204" pitchFamily="34" charset="0"/>
      <p:bold r:id="rId10"/>
    </p:embeddedFont>
    <p:embeddedFont>
      <p:font typeface="Chamberi Super Display" panose="02040503080505020303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8"/>
  </p:normalViewPr>
  <p:slideViewPr>
    <p:cSldViewPr snapToGrid="0" showGuides="1">
      <p:cViewPr varScale="1">
        <p:scale>
          <a:sx n="81" d="100"/>
          <a:sy n="81" d="100"/>
        </p:scale>
        <p:origin x="132" y="2340"/>
      </p:cViewPr>
      <p:guideLst>
        <p:guide orient="horz" pos="216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057400" y="1143000"/>
            <a:ext cx="10972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057400" y="1143000"/>
            <a:ext cx="10972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4227"/>
            <a:ext cx="164592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1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57201"/>
            <a:ext cx="6849036" cy="113982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32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5908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90128"/>
            <a:ext cx="22555198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5908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861728"/>
            <a:ext cx="22555198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257800"/>
            <a:ext cx="225552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2" y="6019799"/>
            <a:ext cx="22555196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4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4400" y="457200"/>
            <a:ext cx="22549104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103" y="3176"/>
            <a:ext cx="24372706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57200"/>
            <a:ext cx="7772396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8" y="5425200"/>
            <a:ext cx="77724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4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52400" y="76202"/>
            <a:ext cx="25908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92000" y="76202"/>
            <a:ext cx="120396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89900" y="457200"/>
            <a:ext cx="14776704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640800" y="6416676"/>
            <a:ext cx="25908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11298" y="3175"/>
            <a:ext cx="24372704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37404" y="1856835"/>
            <a:ext cx="7632196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37404" y="5362311"/>
            <a:ext cx="7632196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4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2"/>
            <a:ext cx="25908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2"/>
            <a:ext cx="120396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457200"/>
            <a:ext cx="14848544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9" y="3174"/>
            <a:ext cx="24372706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57201"/>
            <a:ext cx="164592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9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943600"/>
            <a:ext cx="217932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4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87594"/>
            <a:ext cx="18288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620791" y="87594"/>
            <a:ext cx="561081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07600" y="6400800"/>
            <a:ext cx="1524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9" y="3175"/>
            <a:ext cx="24372706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177" y="457200"/>
            <a:ext cx="17447742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4200" y="5483226"/>
            <a:ext cx="105156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1"/>
            <a:ext cx="14761904" cy="6277097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0709" y="457200"/>
            <a:ext cx="6878890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3174"/>
            <a:ext cx="24384004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457200"/>
            <a:ext cx="15691106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2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2" y="76201"/>
            <a:ext cx="18288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2"/>
            <a:ext cx="120396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07600" y="6400800"/>
            <a:ext cx="1524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457200"/>
            <a:ext cx="19964402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2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2" y="76201"/>
            <a:ext cx="18288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2"/>
            <a:ext cx="120396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07600" y="6400800"/>
            <a:ext cx="1524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0" y="457200"/>
            <a:ext cx="96012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68400" y="3455159"/>
            <a:ext cx="9601200" cy="2945641"/>
          </a:xfrm>
        </p:spPr>
        <p:txBody>
          <a:bodyPr>
            <a:normAutofit/>
          </a:bodyPr>
          <a:lstStyle>
            <a:lvl1pPr marL="9144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1pPr>
            <a:lvl2pPr marL="13716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2pPr>
            <a:lvl3pPr marL="16002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3pPr>
            <a:lvl4pPr marL="20574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4pPr>
            <a:lvl5pPr marL="25146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7436936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3455159"/>
            <a:ext cx="17436936" cy="2945641"/>
          </a:xfrm>
        </p:spPr>
        <p:txBody>
          <a:bodyPr>
            <a:normAutofit/>
          </a:bodyPr>
          <a:lstStyle>
            <a:lvl1pPr marL="9144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1pPr>
            <a:lvl2pPr marL="13716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2pPr>
            <a:lvl3pPr marL="16002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3pPr>
            <a:lvl4pPr marL="20574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4pPr>
            <a:lvl5pPr marL="25146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96012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1" y="3455158"/>
            <a:ext cx="9601202" cy="2945642"/>
          </a:xfrm>
        </p:spPr>
        <p:txBody>
          <a:bodyPr>
            <a:normAutofit/>
          </a:bodyPr>
          <a:lstStyle>
            <a:lvl1pPr marL="9144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1pPr>
            <a:lvl2pPr marL="1371600" indent="-9144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2pPr>
            <a:lvl3pPr marL="16002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3pPr>
            <a:lvl4pPr marL="20574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4pPr>
            <a:lvl5pPr marL="2514600" indent="-685800">
              <a:spcBef>
                <a:spcPts val="0"/>
              </a:spcBef>
              <a:buFont typeface="+mj-lt"/>
              <a:buAutoNum type="arabicPeriod"/>
              <a:defRPr sz="4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0" y="457200"/>
            <a:ext cx="12960096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0" y="510298"/>
            <a:ext cx="96012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868400" y="4343400"/>
            <a:ext cx="96012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8538"/>
            <a:ext cx="96012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4343400"/>
            <a:ext cx="96012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00200"/>
            <a:ext cx="73152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8956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10801" y="1600200"/>
            <a:ext cx="11131326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6994"/>
            <a:ext cx="73152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8956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10800" y="1386994"/>
            <a:ext cx="132588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6994"/>
            <a:ext cx="73152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8956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10800" y="1050111"/>
            <a:ext cx="132588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6994"/>
            <a:ext cx="73152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0"/>
            <a:ext cx="28956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10800" y="457200"/>
            <a:ext cx="132588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05" y="457201"/>
            <a:ext cx="5774246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76202"/>
            <a:ext cx="25908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2"/>
            <a:ext cx="120396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84205" y="3429001"/>
            <a:ext cx="5774246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5393" y="457200"/>
            <a:ext cx="16718610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40800" y="6400800"/>
            <a:ext cx="25908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29201"/>
            <a:ext cx="762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457201"/>
            <a:ext cx="225552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437502" y="5029200"/>
            <a:ext cx="14032096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96" y="3177"/>
            <a:ext cx="24372704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1929" y="457201"/>
            <a:ext cx="7687674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1" y="76200"/>
            <a:ext cx="2590802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0"/>
            <a:ext cx="120396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457200"/>
            <a:ext cx="1486188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781929" y="2624463"/>
            <a:ext cx="7687674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1" y="6400800"/>
            <a:ext cx="2590798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7627428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0" y="76201"/>
            <a:ext cx="25908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1" y="76201"/>
            <a:ext cx="12039598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4402" y="2621290"/>
            <a:ext cx="7627428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122" y="457200"/>
            <a:ext cx="1486188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8120" y="457201"/>
            <a:ext cx="947148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2" y="76202"/>
            <a:ext cx="25908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1" y="76202"/>
            <a:ext cx="12039598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457200"/>
            <a:ext cx="1298448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998120" y="2209800"/>
            <a:ext cx="947148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40799" y="6400800"/>
            <a:ext cx="2590798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721" y="457201"/>
            <a:ext cx="9593398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1" y="76202"/>
            <a:ext cx="2590802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2"/>
            <a:ext cx="120396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9670" y="2209800"/>
            <a:ext cx="947148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99522" y="457200"/>
            <a:ext cx="1298448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40800" y="6400800"/>
            <a:ext cx="25908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111625"/>
            <a:ext cx="6438686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457200"/>
            <a:ext cx="225552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6184" y="4111624"/>
            <a:ext cx="15213416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11298" y="3175"/>
            <a:ext cx="24372704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64008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2" y="76201"/>
            <a:ext cx="25908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76201"/>
            <a:ext cx="120396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44740" y="457200"/>
            <a:ext cx="1522486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3219122"/>
            <a:ext cx="225552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40801" y="6400800"/>
            <a:ext cx="2590798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98" y="3175"/>
            <a:ext cx="24372704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899" y="457200"/>
            <a:ext cx="13105702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0" y="76201"/>
            <a:ext cx="25908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1"/>
            <a:ext cx="120396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200"/>
            <a:ext cx="9449496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63899" y="2470242"/>
            <a:ext cx="13105702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57201"/>
            <a:ext cx="13099106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0" y="76202"/>
            <a:ext cx="25908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1"/>
            <a:ext cx="120396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7805" y="2470242"/>
            <a:ext cx="13105702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934506" y="457200"/>
            <a:ext cx="9449496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98" y="3175"/>
            <a:ext cx="24372704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90161"/>
            <a:ext cx="2255519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2" y="76202"/>
            <a:ext cx="25908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2"/>
            <a:ext cx="120396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1" y="1861762"/>
            <a:ext cx="9489054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17855" y="1861762"/>
            <a:ext cx="13066142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98" y="3175"/>
            <a:ext cx="24372704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97349"/>
            <a:ext cx="2255519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2" y="76202"/>
            <a:ext cx="25908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1998" y="76202"/>
            <a:ext cx="120396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3" y="1861762"/>
            <a:ext cx="7772398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3601" y="1861762"/>
            <a:ext cx="14630398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1" y="6400800"/>
            <a:ext cx="2590798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90162"/>
            <a:ext cx="2255519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2" y="76202"/>
            <a:ext cx="25908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2" y="76202"/>
            <a:ext cx="12039596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1861762"/>
            <a:ext cx="13066142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980541" y="1861762"/>
            <a:ext cx="9489054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488399" y="6400800"/>
            <a:ext cx="2743198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2" y="457200"/>
            <a:ext cx="1450848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1" y="76201"/>
            <a:ext cx="2590802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1"/>
            <a:ext cx="120396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200"/>
            <a:ext cx="804672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61120" y="2088108"/>
            <a:ext cx="1450848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3" y="457199"/>
            <a:ext cx="14508478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402" y="76201"/>
            <a:ext cx="25908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92000" y="76201"/>
            <a:ext cx="120396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4402" y="2088108"/>
            <a:ext cx="1450848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337280" y="457200"/>
            <a:ext cx="804672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640800" y="6400800"/>
            <a:ext cx="25908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2"/>
            <a:ext cx="100584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1" y="2357283"/>
            <a:ext cx="10058398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192001" y="457201"/>
            <a:ext cx="11277598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457201"/>
            <a:ext cx="7433688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1" y="2743200"/>
            <a:ext cx="7433690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448799" y="457202"/>
            <a:ext cx="14020802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49242"/>
            <a:ext cx="11277600" cy="1051558"/>
          </a:xfrm>
        </p:spPr>
        <p:txBody>
          <a:bodyPr anchor="b"/>
          <a:lstStyle>
            <a:lvl1pPr>
              <a:lnSpc>
                <a:spcPct val="110000"/>
              </a:lnSpc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52400"/>
            <a:ext cx="22555200" cy="4434840"/>
          </a:xfrm>
        </p:spPr>
        <p:txBody>
          <a:bodyPr anchor="t"/>
          <a:lstStyle>
            <a:lvl1pPr>
              <a:lnSpc>
                <a:spcPct val="90000"/>
              </a:lnSpc>
              <a:defRPr sz="6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2"/>
            <a:ext cx="11277600" cy="1066798"/>
          </a:xfrm>
        </p:spPr>
        <p:txBody>
          <a:bodyPr anchor="b"/>
          <a:lstStyle>
            <a:lvl1pPr>
              <a:lnSpc>
                <a:spcPct val="110000"/>
              </a:lnSpc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52400"/>
            <a:ext cx="22555200" cy="4434840"/>
          </a:xfrm>
        </p:spPr>
        <p:txBody>
          <a:bodyPr anchor="t"/>
          <a:lstStyle>
            <a:lvl1pPr>
              <a:lnSpc>
                <a:spcPct val="90000"/>
              </a:lnSpc>
              <a:defRPr sz="6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0" y="457200"/>
            <a:ext cx="5486400" cy="5943600"/>
          </a:xfrm>
        </p:spPr>
        <p:txBody>
          <a:bodyPr anchor="ctr"/>
          <a:lstStyle>
            <a:lvl1pPr>
              <a:lnSpc>
                <a:spcPct val="110000"/>
              </a:lnSpc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762000"/>
            <a:ext cx="16154400" cy="5943600"/>
          </a:xfrm>
        </p:spPr>
        <p:txBody>
          <a:bodyPr anchor="ctr"/>
          <a:lstStyle>
            <a:lvl1pPr>
              <a:lnSpc>
                <a:spcPct val="90000"/>
              </a:lnSpc>
              <a:defRPr sz="6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-1133856"/>
            <a:ext cx="2130552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457200"/>
            <a:ext cx="156972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1pPr>
            <a:lvl2pPr marL="4572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-1133856"/>
            <a:ext cx="2130552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457200"/>
            <a:ext cx="156972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1pPr>
            <a:lvl2pPr marL="4572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0"/>
              </a:spcBef>
              <a:buNone/>
              <a:defRPr sz="12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-1133856"/>
            <a:ext cx="2130552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457200"/>
            <a:ext cx="156972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="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90000"/>
              </a:lnSpc>
              <a:spcBef>
                <a:spcPts val="0"/>
              </a:spcBef>
              <a:buNone/>
              <a:defRPr sz="12000" b="0">
                <a:solidFill>
                  <a:schemeClr val="tx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0"/>
              </a:spcBef>
              <a:buNone/>
              <a:defRPr sz="12000" b="0">
                <a:solidFill>
                  <a:schemeClr val="tx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0"/>
              </a:spcBef>
              <a:buNone/>
              <a:defRPr sz="12000" b="0">
                <a:solidFill>
                  <a:schemeClr val="tx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0"/>
              </a:spcBef>
              <a:buNone/>
              <a:defRPr sz="12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83196" y="457200"/>
            <a:ext cx="54864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4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457200"/>
            <a:ext cx="15697200" cy="5943600"/>
          </a:xfrm>
        </p:spPr>
        <p:txBody>
          <a:bodyPr anchor="t"/>
          <a:lstStyle>
            <a:lvl1pPr>
              <a:lnSpc>
                <a:spcPct val="90000"/>
              </a:lnSpc>
              <a:defRPr sz="12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5937084"/>
            <a:ext cx="18288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4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454572"/>
            <a:ext cx="22555200" cy="5417308"/>
          </a:xfrm>
        </p:spPr>
        <p:txBody>
          <a:bodyPr anchor="b"/>
          <a:lstStyle>
            <a:lvl1pPr>
              <a:lnSpc>
                <a:spcPct val="90000"/>
              </a:lnSpc>
              <a:defRPr sz="12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0" y="457200"/>
            <a:ext cx="59436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4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457200"/>
            <a:ext cx="15697200" cy="5943600"/>
          </a:xfrm>
        </p:spPr>
        <p:txBody>
          <a:bodyPr anchor="ctr"/>
          <a:lstStyle>
            <a:lvl1pPr>
              <a:lnSpc>
                <a:spcPct val="90000"/>
              </a:lnSpc>
              <a:defRPr sz="12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457201"/>
            <a:ext cx="22555196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1" y="1825625"/>
            <a:ext cx="10460990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008615" y="1825625"/>
            <a:ext cx="10460986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225552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823848"/>
            <a:ext cx="1045464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2286000"/>
            <a:ext cx="10455276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3002763" y="1823847"/>
            <a:ext cx="10466834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002184" y="2286000"/>
            <a:ext cx="10467416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1"/>
            <a:ext cx="225552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1"/>
            <a:ext cx="762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458616"/>
            <a:ext cx="762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0" y="457200"/>
            <a:ext cx="138684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98" y="3175"/>
            <a:ext cx="24372704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762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3810000"/>
            <a:ext cx="762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9448801" y="457200"/>
            <a:ext cx="14020798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57200"/>
            <a:ext cx="16611602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7" y="3733800"/>
            <a:ext cx="22555198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8" y="3175"/>
            <a:ext cx="24372704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3" y="457200"/>
            <a:ext cx="11277598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2" y="3810000"/>
            <a:ext cx="16764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/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4000"/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4000"/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4000"/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1"/>
            <a:ext cx="225552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1" y="1752602"/>
            <a:ext cx="22555198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400" y="76201"/>
            <a:ext cx="28956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1800" b="0" i="0" cap="all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0" y="76201"/>
            <a:ext cx="120396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1800" b="0" i="0" cap="all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640800" y="6400800"/>
            <a:ext cx="25908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800" b="0" i="0" cap="all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1828800" rtl="0" eaLnBrk="1" latinLnBrk="0" hangingPunct="1">
        <a:lnSpc>
          <a:spcPct val="80000"/>
        </a:lnSpc>
        <a:spcBef>
          <a:spcPct val="0"/>
        </a:spcBef>
        <a:buNone/>
        <a:defRPr sz="40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1828800" rtl="0" eaLnBrk="1" latinLnBrk="0" hangingPunct="1">
        <a:lnSpc>
          <a:spcPct val="120000"/>
        </a:lnSpc>
        <a:spcBef>
          <a:spcPts val="2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18288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768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96" userDrawn="1">
          <p15:clr>
            <a:srgbClr val="F26B43"/>
          </p15:clr>
        </p15:guide>
        <p15:guide id="34" pos="15264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14784" userDrawn="1">
          <p15:clr>
            <a:srgbClr val="F26B43"/>
          </p15:clr>
        </p15:guide>
        <p15:guide id="38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AB84-69CD-D5F0-8E87-694BD219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Here’s a long slide title that includes most of the points on the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302E-6342-1D55-BF5C-3904B350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Here’s some bullets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 Two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 Three</a:t>
            </a:r>
          </a:p>
        </p:txBody>
      </p:sp>
    </p:spTree>
    <p:extLst>
      <p:ext uri="{BB962C8B-B14F-4D97-AF65-F5344CB8AC3E}">
        <p14:creationId xmlns:p14="http://schemas.microsoft.com/office/powerpoint/2010/main" val="18795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3A9E-701B-6E05-D203-5323E828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9D17-8C31-C2D3-31A8-890D09F0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DC38-7C84-F393-743D-ADBADAD17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Video 4" title="Defocused Particles Cyan Blue">
            <a:hlinkClick r:id="" action="ppaction://media"/>
            <a:extLst>
              <a:ext uri="{FF2B5EF4-FFF2-40B4-BE49-F238E27FC236}">
                <a16:creationId xmlns:a16="http://schemas.microsoft.com/office/drawing/2014/main" id="{6C9DF2E8-78C2-4D38-92C6-09EDA1F08B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4650828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0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D50F-47A0-43BB-A254-68BDC2CD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Strategic Growth Priorities: FY2027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96F2C-D816-D41C-4099-02814F96F3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3" spcCol="108000">
            <a:normAutofit/>
          </a:bodyPr>
          <a:lstStyle/>
          <a:p>
            <a:pPr lvl="0"/>
            <a:r>
              <a:rPr lang="en-GB" sz="2400" b="1" dirty="0">
                <a:latin typeface="+mj-lt"/>
              </a:rPr>
              <a:t>Operational Efficiency</a:t>
            </a:r>
            <a:endParaRPr lang="en-GB" sz="2400" dirty="0">
              <a:latin typeface="+mj-lt"/>
            </a:endParaRPr>
          </a:p>
          <a:p>
            <a:pPr marL="352425" lvl="1" indent="-255588">
              <a:buFont typeface="Arial" panose="020B0604020202020204" pitchFamily="34" charset="0"/>
              <a:buChar char="•"/>
            </a:pPr>
            <a:r>
              <a:rPr lang="en-GB" dirty="0"/>
              <a:t>Automate back-office reporting workflows to reduce administrative overhead by 18%.</a:t>
            </a:r>
          </a:p>
          <a:p>
            <a:pPr marL="352425" lvl="1" indent="-255588">
              <a:buFont typeface="Arial" panose="020B0604020202020204" pitchFamily="34" charset="0"/>
              <a:buChar char="•"/>
            </a:pPr>
            <a:r>
              <a:rPr lang="en-GB" dirty="0"/>
              <a:t>Consolidate regional distribution hubs into two centralized </a:t>
            </a:r>
            <a:r>
              <a:rPr lang="en-GB" dirty="0" err="1"/>
              <a:t>fulfillment</a:t>
            </a:r>
            <a:r>
              <a:rPr lang="en-GB" dirty="0"/>
              <a:t> </a:t>
            </a:r>
            <a:r>
              <a:rPr lang="en-GB" dirty="0" err="1"/>
              <a:t>centers</a:t>
            </a:r>
            <a:r>
              <a:rPr lang="en-GB" dirty="0"/>
              <a:t>.</a:t>
            </a:r>
          </a:p>
          <a:p>
            <a:pPr marL="0" lvl="1"/>
            <a:r>
              <a:rPr lang="en-GB" dirty="0">
                <a:latin typeface="Aptos SemiBold" panose="020F0502020204030204" pitchFamily="34" charset="0"/>
              </a:rPr>
              <a:t>Key Metric: $2.4M </a:t>
            </a:r>
            <a:r>
              <a:rPr lang="en-GB" dirty="0"/>
              <a:t>targeted annual operational savings.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0"/>
            <a:r>
              <a:rPr lang="en-GB" sz="2400" b="1" dirty="0">
                <a:latin typeface="+mj-lt"/>
              </a:rPr>
              <a:t>Product Modernization</a:t>
            </a:r>
            <a:endParaRPr lang="en-GB" sz="2400" dirty="0">
              <a:latin typeface="+mj-lt"/>
            </a:endParaRPr>
          </a:p>
          <a:p>
            <a:pPr marL="273050" lvl="1" indent="-176213">
              <a:buFont typeface="Arial" panose="020B0604020202020204" pitchFamily="34" charset="0"/>
              <a:buChar char="•"/>
            </a:pPr>
            <a:r>
              <a:rPr lang="en-GB" dirty="0"/>
              <a:t>Migrate legacy enterprise accounts to the multi-tenant SaaS architecture.</a:t>
            </a:r>
          </a:p>
          <a:p>
            <a:pPr marL="273050" lvl="1" indent="-176213">
              <a:buFont typeface="Arial" panose="020B0604020202020204" pitchFamily="34" charset="0"/>
              <a:buChar char="•"/>
            </a:pPr>
            <a:r>
              <a:rPr lang="en-GB" dirty="0"/>
              <a:t>Launch self-service onboarding for tier-two and mid-market customers.</a:t>
            </a:r>
          </a:p>
          <a:p>
            <a:pPr marL="0" lvl="1"/>
            <a:r>
              <a:rPr lang="en-GB" dirty="0">
                <a:latin typeface="Aptos SemiBold" panose="020F0502020204030204" pitchFamily="34" charset="0"/>
              </a:rPr>
              <a:t>Key Metric: 40% </a:t>
            </a:r>
            <a:r>
              <a:rPr lang="en-GB" dirty="0"/>
              <a:t>reduction in average implementation time.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0"/>
            <a:r>
              <a:rPr lang="en-GB" sz="2400" b="1" dirty="0">
                <a:latin typeface="+mj-lt"/>
              </a:rPr>
              <a:t>Market Expansion</a:t>
            </a:r>
            <a:endParaRPr lang="en-GB" sz="2400" dirty="0">
              <a:latin typeface="+mj-lt"/>
            </a:endParaRPr>
          </a:p>
          <a:p>
            <a:pPr marL="273050" lvl="1" indent="-176213">
              <a:buFont typeface="Arial" panose="020B0604020202020204" pitchFamily="34" charset="0"/>
              <a:buChar char="•"/>
            </a:pPr>
            <a:r>
              <a:rPr lang="en-GB" dirty="0"/>
              <a:t>Establish direct sales operations across DACH and Nordic territories.</a:t>
            </a:r>
          </a:p>
          <a:p>
            <a:pPr marL="273050" lvl="1" indent="-176213">
              <a:buFont typeface="Arial" panose="020B0604020202020204" pitchFamily="34" charset="0"/>
              <a:buChar char="•"/>
            </a:pPr>
            <a:r>
              <a:rPr lang="en-GB" dirty="0"/>
              <a:t>Partner with three regional system integrators to accelerate pipeline growth.</a:t>
            </a:r>
          </a:p>
          <a:p>
            <a:pPr marL="0" lvl="1"/>
            <a:r>
              <a:rPr lang="en-GB" dirty="0">
                <a:latin typeface="Aptos SemiBold" panose="020F0502020204030204" pitchFamily="34" charset="0"/>
              </a:rPr>
              <a:t>Key Metric: 25% YoY </a:t>
            </a:r>
            <a:r>
              <a:rPr lang="en-GB" dirty="0"/>
              <a:t>international revenue growth target.</a:t>
            </a:r>
          </a:p>
        </p:txBody>
      </p:sp>
    </p:spTree>
    <p:extLst>
      <p:ext uri="{BB962C8B-B14F-4D97-AF65-F5344CB8AC3E}">
        <p14:creationId xmlns:p14="http://schemas.microsoft.com/office/powerpoint/2010/main" val="297271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0C84-53F3-6655-CBF6-A0EE9A13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EBB65-90BF-F0D2-3190-AAD21461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Video 4" title="Defocused Particles Cyan Blue">
            <a:hlinkClick r:id="" action="ppaction://media"/>
            <a:extLst>
              <a:ext uri="{FF2B5EF4-FFF2-40B4-BE49-F238E27FC236}">
                <a16:creationId xmlns:a16="http://schemas.microsoft.com/office/drawing/2014/main" id="{516095DC-3E9D-741B-390D-AE03E16BF7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4650828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8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{62B3930D-FB49-4915-A64F-AC7628DD4B91}76eb6e63-359a-49aa-b46c-7c5b67ea33bb-TF1ddfefa5-03ef-44f0-b9f8-5e27349af6c5_win32</Template>
  <TotalTime>1414</TotalTime>
  <Words>132</Words>
  <Application>Microsoft Office PowerPoint</Application>
  <PresentationFormat>Custom</PresentationFormat>
  <Paragraphs>28</Paragraphs>
  <Slides>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 Light</vt:lpstr>
      <vt:lpstr>Aptos SemiBold</vt:lpstr>
      <vt:lpstr>Chamberi Super Display</vt:lpstr>
      <vt:lpstr>Arial</vt:lpstr>
      <vt:lpstr>Aptos</vt:lpstr>
      <vt:lpstr>Prismatic polygons</vt:lpstr>
      <vt:lpstr>Presentation Title</vt:lpstr>
      <vt:lpstr>Here’s a long slide title that includes most of the points on the slides</vt:lpstr>
      <vt:lpstr>PowerPoint Presentation</vt:lpstr>
      <vt:lpstr>Strategic Growth Priorities: FY2027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Lehr</dc:creator>
  <cp:lastModifiedBy>Graham Lehr</cp:lastModifiedBy>
  <cp:revision>3</cp:revision>
  <dcterms:created xsi:type="dcterms:W3CDTF">2026-10-15T12:14:26Z</dcterms:created>
  <dcterms:modified xsi:type="dcterms:W3CDTF">2026-10-16T11:51:31Z</dcterms:modified>
</cp:coreProperties>
</file>